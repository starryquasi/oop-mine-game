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A6CFE-D123-3EBD-758B-110864729C58}" v="132" dt="2026-04-19T15:12:36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FF7F"/>
                </a:solidFill>
                <a:latin typeface="微軟正黑體"/>
              </a:rPr>
              <a:t>OopMineGame：2D 沙盒生存遊戲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sz="3000" b="0" dirty="0">
                <a:solidFill>
                  <a:srgbClr val="FFFFFF"/>
                </a:solidFill>
                <a:latin typeface="微軟正黑體"/>
              </a:rPr>
              <a:t>114-2 </a:t>
            </a:r>
            <a:r>
              <a:rPr sz="3000" b="0" dirty="0" err="1">
                <a:solidFill>
                  <a:srgbClr val="FFFFFF"/>
                </a:solidFill>
                <a:latin typeface="微軟正黑體"/>
              </a:rPr>
              <a:t>物件導向程式設計</a:t>
            </a:r>
            <a:r>
              <a:rPr sz="3000" b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3000" b="0" dirty="0" err="1">
                <a:solidFill>
                  <a:srgbClr val="FFFFFF"/>
                </a:solidFill>
                <a:latin typeface="微軟正黑體"/>
              </a:rPr>
              <a:t>期末專題</a:t>
            </a:r>
            <a:endParaRPr lang="zh-TW" altLang="en-US" sz="3000" b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lang="zh-TW" sz="3000">
                <a:solidFill>
                  <a:srgbClr val="FFFFFF"/>
                </a:solidFill>
                <a:latin typeface="微軟正黑體"/>
                <a:ea typeface="新細明體"/>
              </a:rPr>
              <a:t>高憲成</a:t>
            </a:r>
            <a:r>
              <a:rPr lang="en-US" altLang="zh-TW" sz="3000">
                <a:solidFill>
                  <a:srgbClr val="FFFFFF"/>
                </a:solidFill>
                <a:latin typeface="微軟正黑體"/>
                <a:ea typeface="新細明體"/>
              </a:rPr>
              <a:t>(</a:t>
            </a:r>
            <a:r>
              <a:rPr lang="zh-TW" sz="3000">
                <a:solidFill>
                  <a:srgbClr val="FFFFFF"/>
                </a:solidFill>
                <a:latin typeface="微軟正黑體"/>
                <a:ea typeface="新細明體"/>
              </a:rPr>
              <a:t>組長</a:t>
            </a:r>
            <a:r>
              <a:rPr lang="en-US" altLang="zh-TW" sz="3000">
                <a:solidFill>
                  <a:srgbClr val="FFFFFF"/>
                </a:solidFill>
                <a:latin typeface="微軟正黑體"/>
                <a:ea typeface="新細明體"/>
              </a:rPr>
              <a:t>)</a:t>
            </a:r>
            <a:r>
              <a:rPr lang="zh-TW" sz="3000" dirty="0">
                <a:solidFill>
                  <a:srgbClr val="FFFFFF"/>
                </a:solidFill>
                <a:latin typeface="微軟正黑體"/>
                <a:ea typeface="新細明體"/>
              </a:rPr>
              <a:t>  </a:t>
            </a:r>
            <a:r>
              <a:rPr lang="zh-TW" altLang="en-US" sz="3000">
                <a:solidFill>
                  <a:srgbClr val="FFFFFF"/>
                </a:solidFill>
                <a:latin typeface="微軟正黑體"/>
                <a:ea typeface="新細明體"/>
              </a:rPr>
              <a:t>張育溥  程昱銘</a:t>
            </a:r>
            <a:r>
              <a:rPr lang="zh-TW" sz="3000" dirty="0">
                <a:latin typeface="微軟正黑體"/>
                <a:ea typeface="新細明體"/>
              </a:rPr>
              <a:t>​</a:t>
            </a:r>
            <a:br>
              <a:rPr lang="zh-TW" sz="3000" dirty="0">
                <a:latin typeface="微軟正黑體"/>
                <a:ea typeface="新細明體"/>
              </a:rPr>
            </a:br>
            <a:br>
              <a:rPr lang="zh-TW" altLang="en-US" sz="2400" dirty="0">
                <a:latin typeface="微軟正黑體"/>
                <a:ea typeface="新細明體"/>
              </a:rPr>
            </a:br>
            <a:endParaRPr lang="zh-CN" altLang="en-US" sz="2400" b="0">
              <a:solidFill>
                <a:srgbClr val="FFFFFF"/>
              </a:solidFill>
              <a:latin typeface="宋体"/>
              <a:ea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FFA500"/>
                </a:solidFill>
                <a:latin typeface="微軟正黑體"/>
              </a:rPr>
              <a:t>一、 </a:t>
            </a:r>
            <a:r>
              <a:rPr sz="4000" b="1" dirty="0" err="1">
                <a:solidFill>
                  <a:srgbClr val="FFA500"/>
                </a:solidFill>
                <a:latin typeface="微軟正黑體"/>
              </a:rPr>
              <a:t>系統功能描述</a:t>
            </a:r>
            <a:endParaRPr lang="zh-TW" sz="4000" b="1" dirty="0">
              <a:solidFill>
                <a:srgbClr val="FFA500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•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動態地圖生成：結合噪音演算法實作隨機地形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lang="zh-TW" altLang="en-US" sz="2400" b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•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物理運算：實作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Entity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碰撞偵測與重力模擬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2400" b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•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物品系統：ItemStack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管理與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CraftingTable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合成機制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2400" b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0BFFF"/>
                </a:solidFill>
                <a:latin typeface="微軟正黑體"/>
              </a:rPr>
              <a:t>二、 </a:t>
            </a:r>
            <a:r>
              <a:rPr sz="4000" b="1" dirty="0" err="1">
                <a:solidFill>
                  <a:srgbClr val="00BFFF"/>
                </a:solidFill>
                <a:latin typeface="微軟正黑體"/>
              </a:rPr>
              <a:t>封裝</a:t>
            </a:r>
            <a:r>
              <a:rPr sz="4000" b="1" dirty="0">
                <a:solidFill>
                  <a:srgbClr val="00BFFF"/>
                </a:solidFill>
                <a:latin typeface="微軟正黑體"/>
              </a:rPr>
              <a:t> (Encapsulation)</a:t>
            </a:r>
            <a:endParaRPr lang="zh-TW" altLang="en-US" sz="4000" b="1" dirty="0">
              <a:solidFill>
                <a:srgbClr val="00BFFF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Entity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類別數據保護案例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(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Entity.h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):</a:t>
            </a:r>
            <a:endParaRPr lang="zh-TW" altLang="en-US"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  private: const int id;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olc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::vf2d pos;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olc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::vf2d vel;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  public: int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getId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() const;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olc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::vf2d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getPos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() const;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 err="1">
                <a:solidFill>
                  <a:srgbClr val="FFFFFF"/>
                </a:solidFill>
                <a:latin typeface="微軟正黑體"/>
              </a:rPr>
              <a:t>透過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Getter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控制存取，確保遊戲物件座標與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ID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不被意外竄改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FF69B4"/>
                </a:solidFill>
                <a:latin typeface="微軟正黑體"/>
              </a:rPr>
              <a:t>三、 </a:t>
            </a:r>
            <a:r>
              <a:rPr sz="4000" b="1" dirty="0" err="1">
                <a:solidFill>
                  <a:srgbClr val="FF69B4"/>
                </a:solidFill>
                <a:latin typeface="微軟正黑體"/>
              </a:rPr>
              <a:t>繼承與多型</a:t>
            </a:r>
            <a:r>
              <a:rPr sz="4000" b="1" dirty="0">
                <a:solidFill>
                  <a:srgbClr val="FF69B4"/>
                </a:solidFill>
                <a:latin typeface="微軟正黑體"/>
              </a:rPr>
              <a:t> (Polymorphism)</a:t>
            </a:r>
            <a:endParaRPr lang="zh-TW" altLang="en-US" sz="4000" b="1" dirty="0">
              <a:solidFill>
                <a:srgbClr val="FF69B4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 b="0" dirty="0" err="1">
                <a:solidFill>
                  <a:srgbClr val="FFFFFF"/>
                </a:solidFill>
                <a:latin typeface="微軟正黑體"/>
              </a:rPr>
              <a:t>類別擴展與行為重寫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(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Block.h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):</a:t>
            </a:r>
            <a:endParaRPr lang="zh-TW" altLang="en-US"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  virtual bool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onUse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(World&amp; world,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olc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::vi2d pos) const;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•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繼承：CraftingTable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繼承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Block。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•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多型：CraftingTable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override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onUse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()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以開啟合成介面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FFFF00"/>
                </a:solidFill>
                <a:latin typeface="微軟正黑體"/>
              </a:rPr>
              <a:t>四、 </a:t>
            </a:r>
            <a:r>
              <a:rPr sz="4000" b="1" dirty="0" err="1">
                <a:solidFill>
                  <a:srgbClr val="FFFF00"/>
                </a:solidFill>
                <a:latin typeface="微軟正黑體"/>
              </a:rPr>
              <a:t>建造者模式</a:t>
            </a:r>
            <a:r>
              <a:rPr sz="4000" b="1" dirty="0">
                <a:solidFill>
                  <a:srgbClr val="FFFF00"/>
                </a:solidFill>
                <a:latin typeface="微軟正黑體"/>
              </a:rPr>
              <a:t> (Builder Pattern)</a:t>
            </a:r>
            <a:endParaRPr lang="zh-TW" altLang="en-US" sz="4000" b="1" dirty="0">
              <a:solidFill>
                <a:srgbClr val="FFFF00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 b="0" dirty="0" err="1">
                <a:solidFill>
                  <a:srgbClr val="FFFFFF"/>
                </a:solidFill>
                <a:latin typeface="微軟正黑體"/>
              </a:rPr>
              <a:t>BlockBuilder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鏈式呼叫實作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 (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Block.h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):</a:t>
            </a:r>
            <a:endParaRPr lang="zh-TW" altLang="en-US"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>
                <a:solidFill>
                  <a:srgbClr val="FFFFFF"/>
                </a:solidFill>
                <a:latin typeface="微軟正黑體"/>
              </a:rPr>
              <a:t>  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BlockBuilder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().name("Stone").</a:t>
            </a:r>
            <a:r>
              <a:rPr sz="2400" b="0" dirty="0" err="1">
                <a:solidFill>
                  <a:srgbClr val="FFFFFF"/>
                </a:solidFill>
                <a:latin typeface="微軟正黑體"/>
              </a:rPr>
              <a:t>textureName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("stone").build();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r>
              <a:rPr sz="2400" b="0" dirty="0" err="1">
                <a:solidFill>
                  <a:srgbClr val="FFFFFF"/>
                </a:solidFill>
                <a:latin typeface="微軟正黑體"/>
              </a:rPr>
              <a:t>解決建構子參數過多問題，大幅提升遊戲內容擴充效率</a:t>
            </a:r>
            <a:r>
              <a:rPr sz="24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2400" b="0" dirty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0FF7F"/>
                </a:solidFill>
                <a:latin typeface="微軟正黑體"/>
              </a:rPr>
              <a:t>五、 </a:t>
            </a:r>
            <a:r>
              <a:rPr sz="4000" b="1" dirty="0" err="1">
                <a:solidFill>
                  <a:srgbClr val="00FF7F"/>
                </a:solidFill>
                <a:latin typeface="微軟正黑體"/>
              </a:rPr>
              <a:t>系統運行畫面截圖</a:t>
            </a:r>
            <a:endParaRPr lang="zh-TW" altLang="en-US" sz="4000" b="1" dirty="0" err="1">
              <a:solidFill>
                <a:srgbClr val="00FF7F"/>
              </a:solidFill>
              <a:latin typeface="微軟正黑體"/>
              <a:ea typeface="微軟正黑體"/>
            </a:endParaRPr>
          </a:p>
        </p:txBody>
      </p:sp>
      <p:pic>
        <p:nvPicPr>
          <p:cNvPr id="5" name="圖片 4" descr="一張含有 螢幕擷取畫面, 電腦遊戲, 遊戲軟體, 3D 模型 的圖片&#10;&#10;AI 產生的內容可能不正確。">
            <a:extLst>
              <a:ext uri="{FF2B5EF4-FFF2-40B4-BE49-F238E27FC236}">
                <a16:creationId xmlns:a16="http://schemas.microsoft.com/office/drawing/2014/main" id="{E0D07908-E89F-4B48-CF93-2A34FF667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3" y="2745720"/>
            <a:ext cx="4182894" cy="2358780"/>
          </a:xfrm>
          <a:prstGeom prst="rect">
            <a:avLst/>
          </a:prstGeom>
        </p:spPr>
      </p:pic>
      <p:pic>
        <p:nvPicPr>
          <p:cNvPr id="6" name="圖片 5" descr="一張含有 螢幕擷取畫面, 電腦遊戲, 遊戲軟體, 3D 模型 的圖片&#10;&#10;AI 產生的內容可能不正確。">
            <a:extLst>
              <a:ext uri="{FF2B5EF4-FFF2-40B4-BE49-F238E27FC236}">
                <a16:creationId xmlns:a16="http://schemas.microsoft.com/office/drawing/2014/main" id="{D44FA69B-0007-13A3-B242-472D5D821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728" y="2742265"/>
            <a:ext cx="4377446" cy="2365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78213" y="2852468"/>
            <a:ext cx="8229600" cy="114300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微軟正黑體"/>
              </a:rPr>
              <a:t>六、 UML 類別圖與流程圖</a:t>
            </a:r>
          </a:p>
        </p:txBody>
      </p:sp>
      <p:pic>
        <p:nvPicPr>
          <p:cNvPr id="4" name="圖片 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5673335C-8DDF-8D94-C662-75D335A7F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45" y="-1"/>
            <a:ext cx="2581282" cy="6974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0FFFF"/>
                </a:solidFill>
                <a:latin typeface="微軟正黑體"/>
              </a:rPr>
              <a:t>七、 GitHub </a:t>
            </a:r>
            <a:r>
              <a:rPr sz="4000" b="1" dirty="0" err="1">
                <a:solidFill>
                  <a:srgbClr val="00FFFF"/>
                </a:solidFill>
                <a:latin typeface="微軟正黑體"/>
              </a:rPr>
              <a:t>專案管理</a:t>
            </a:r>
            <a:endParaRPr lang="zh-TW" altLang="en-US" sz="4000" b="1" dirty="0" err="1">
              <a:solidFill>
                <a:srgbClr val="00FFFF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114800" cy="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sz="1800" b="0">
                <a:solidFill>
                  <a:srgbClr val="FFFFFF"/>
                </a:solidFill>
                <a:latin typeface="微軟正黑體"/>
              </a:rPr>
              <a:t>• </a:t>
            </a:r>
            <a:endParaRPr lang="zh-TW" altLang="en-US" sz="1800" b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F98108-3B4C-1604-4341-D5D3A42F5722}"/>
              </a:ext>
            </a:extLst>
          </p:cNvPr>
          <p:cNvSpPr txBox="1"/>
          <p:nvPr/>
        </p:nvSpPr>
        <p:spPr>
          <a:xfrm>
            <a:off x="99574" y="1423346"/>
            <a:ext cx="48930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dirty="0">
                <a:solidFill>
                  <a:schemeClr val="bg1"/>
                </a:solidFill>
                <a:ea typeface="+mn-lt"/>
                <a:cs typeface="+mn-lt"/>
              </a:rPr>
              <a:t>https://github.com/StarryQuasi/oop-mine-game</a:t>
            </a:r>
            <a:endParaRPr lang="zh-TW" dirty="0">
              <a:solidFill>
                <a:schemeClr val="bg1"/>
              </a:solidFill>
            </a:endParaRPr>
          </a:p>
        </p:txBody>
      </p:sp>
      <p:pic>
        <p:nvPicPr>
          <p:cNvPr id="6" name="圖片 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0B2169C6-71EC-004C-4117-996E9280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49" y="2056344"/>
            <a:ext cx="5690681" cy="36888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FFFFFF"/>
                </a:solidFill>
                <a:latin typeface="微軟正黑體"/>
              </a:rPr>
              <a:t>八、 </a:t>
            </a:r>
            <a:r>
              <a:rPr sz="4000" b="1" dirty="0" err="1">
                <a:solidFill>
                  <a:srgbClr val="FFFFFF"/>
                </a:solidFill>
                <a:latin typeface="微軟正黑體"/>
              </a:rPr>
              <a:t>工作分配與貢獻比例</a:t>
            </a:r>
            <a:endParaRPr lang="zh-TW" altLang="en-US" sz="4000" b="1" dirty="0" err="1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1800" b="0">
                <a:solidFill>
                  <a:srgbClr val="FFFFFF"/>
                </a:solidFill>
                <a:latin typeface="微軟正黑體"/>
              </a:rPr>
              <a:t>張育溥：</a:t>
            </a:r>
            <a:r>
              <a:rPr 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UML</a:t>
            </a:r>
            <a:r>
              <a:rPr lang="en-US" altLang="zh-TW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 </a:t>
            </a: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與報告撰寫、核心架構</a:t>
            </a:r>
            <a:r>
              <a:rPr lang="en-US" altLang="zh-TW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 </a:t>
            </a:r>
            <a:r>
              <a:rPr 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(Entity/Block)</a:t>
            </a:r>
            <a:r>
              <a:rPr sz="1800" b="0">
                <a:solidFill>
                  <a:srgbClr val="FFFFFF"/>
                </a:solidFill>
                <a:latin typeface="微軟正黑體"/>
              </a:rPr>
              <a:t>。</a:t>
            </a:r>
            <a:endParaRPr lang="zh-TW" altLang="en-US"/>
          </a:p>
          <a:p>
            <a:pPr marL="0" indent="0">
              <a:buNone/>
            </a:pPr>
            <a:r>
              <a:rPr lang="zh-TW" sz="1800" dirty="0">
                <a:solidFill>
                  <a:srgbClr val="FFFFFF"/>
                </a:solidFill>
                <a:latin typeface="微軟正黑體"/>
                <a:ea typeface="新細明體"/>
              </a:rPr>
              <a:t>高憲成：</a:t>
            </a:r>
            <a:r>
              <a:rPr lang="en-US" altLang="zh-TW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GUI </a:t>
            </a:r>
            <a:r>
              <a:rPr lang="zh-TW" altLang="en-US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實作</a:t>
            </a:r>
            <a:r>
              <a:rPr lang="en-US" altLang="zh-TW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 (</a:t>
            </a:r>
            <a:r>
              <a:rPr lang="en-US" altLang="zh-TW" sz="1800" dirty="0" err="1">
                <a:solidFill>
                  <a:srgbClr val="FFFFFF"/>
                </a:solidFill>
                <a:latin typeface="Microsoft JhengHei"/>
                <a:ea typeface="Microsoft JhengHei"/>
              </a:rPr>
              <a:t>Hotbar</a:t>
            </a:r>
            <a:r>
              <a:rPr lang="en-US" altLang="zh-TW" sz="1800" dirty="0">
                <a:solidFill>
                  <a:srgbClr val="FFFFFF"/>
                </a:solidFill>
                <a:latin typeface="Microsoft JhengHei"/>
                <a:ea typeface="Microsoft JhengHei"/>
              </a:rPr>
              <a:t>)</a:t>
            </a:r>
            <a:r>
              <a:rPr lang="zh-TW" sz="1800" dirty="0">
                <a:solidFill>
                  <a:srgbClr val="FFFFFF"/>
                </a:solidFill>
                <a:latin typeface="微軟正黑體"/>
                <a:ea typeface="新細明體"/>
              </a:rPr>
              <a:t>、</a:t>
            </a:r>
            <a:r>
              <a:rPr sz="1800" b="0" dirty="0" err="1">
                <a:solidFill>
                  <a:srgbClr val="FFFFFF"/>
                </a:solidFill>
                <a:latin typeface="微軟正黑體"/>
              </a:rPr>
              <a:t>素材管理</a:t>
            </a:r>
            <a:r>
              <a:rPr lang="zh-TW" altLang="en-US" sz="1800" dirty="0">
                <a:solidFill>
                  <a:srgbClr val="FFFFFF"/>
                </a:solidFill>
                <a:latin typeface="Microsoft JhengHei"/>
                <a:ea typeface="Microsoft JhengHei"/>
                <a:cs typeface="Calibri"/>
              </a:rPr>
              <a:t>、</a:t>
            </a: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OOP </a:t>
            </a:r>
            <a:r>
              <a:rPr lang="zh-TW" altLang="en-US" sz="1800" dirty="0" err="1">
                <a:solidFill>
                  <a:srgbClr val="FFFFFF"/>
                </a:solidFill>
                <a:ea typeface="+mn-lt"/>
                <a:cs typeface="+mn-lt"/>
              </a:rPr>
              <a:t>邏輯實作</a:t>
            </a:r>
            <a:r>
              <a:rPr sz="1800" b="0" dirty="0">
                <a:solidFill>
                  <a:srgbClr val="FFFFFF"/>
                </a:solidFill>
                <a:latin typeface="微軟正黑體"/>
              </a:rPr>
              <a:t>。</a:t>
            </a:r>
            <a:endParaRPr sz="18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zh-TW" altLang="en-US" sz="1800">
                <a:solidFill>
                  <a:srgbClr val="FFFFFF"/>
                </a:solidFill>
                <a:latin typeface="微軟正黑體"/>
                <a:ea typeface="微軟正黑體"/>
              </a:rPr>
              <a:t>程昱銘:</a:t>
            </a:r>
            <a:endParaRPr lang="zh-TW" sz="1800" b="0" dirty="0">
              <a:solidFill>
                <a:srgbClr val="FFFFFF"/>
              </a:solidFill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zh-TW" altLang="en-US" sz="1800" dirty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7F"/>
                </a:solidFill>
                <a:latin typeface="微軟正黑體"/>
              </a:rP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000" b="0">
                <a:solidFill>
                  <a:srgbClr val="FFFFFF"/>
                </a:solidFill>
                <a:latin typeface="微軟正黑體"/>
              </a:rPr>
              <a:t>感謝聆聽，歡迎提問！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如螢幕大小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Theme</vt:lpstr>
      <vt:lpstr>OopMineGame：2D 沙盒生存遊戲</vt:lpstr>
      <vt:lpstr>一、 系統功能描述</vt:lpstr>
      <vt:lpstr>二、 封裝 (Encapsulation)</vt:lpstr>
      <vt:lpstr>三、 繼承與多型 (Polymorphism)</vt:lpstr>
      <vt:lpstr>四、 建造者模式 (Builder Pattern)</vt:lpstr>
      <vt:lpstr>五、 系統運行畫面截圖</vt:lpstr>
      <vt:lpstr>六、 UML 類別圖與流程圖</vt:lpstr>
      <vt:lpstr>七、 GitHub 專案管理</vt:lpstr>
      <vt:lpstr>八、 工作分配與貢獻比例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65</cp:revision>
  <dcterms:created xsi:type="dcterms:W3CDTF">2013-01-27T09:14:16Z</dcterms:created>
  <dcterms:modified xsi:type="dcterms:W3CDTF">2026-04-19T15:12:49Z</dcterms:modified>
  <cp:category/>
</cp:coreProperties>
</file>